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09760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685800"/>
            <a:ext cx="2011680" cy="16002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000000"/>
                </a:solidFill>
                <a:latin typeface="Arial"/>
              </a:rPr>
              <a:t>Step 0</a:t>
            </a:r>
          </a:p>
          <a:p>
            <a:pPr algn="ctr">
              <a:spcBef>
                <a:spcPts val="400"/>
              </a:spcBef>
            </a:pPr>
            <a:r>
              <a:rPr sz="1100" b="1" i="0">
                <a:solidFill>
                  <a:srgbClr val="000000"/>
                </a:solidFill>
                <a:latin typeface="Arial"/>
              </a:rPr>
              <a:t>SCM over features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domain DAG </a:t>
            </a:r>
            <a:r>
              <a:rPr sz="1000" b="0" i="1">
                <a:solidFill>
                  <a:srgbClr val="000000"/>
                </a:solidFill>
                <a:latin typeface="Arial"/>
              </a:rPr>
              <a:t>G</a:t>
            </a:r>
            <a:r>
              <a:rPr sz="1000" b="0" i="0">
                <a:solidFill>
                  <a:srgbClr val="000000"/>
                </a:solidFill>
                <a:latin typeface="Arial"/>
              </a:rPr>
              <a:t>,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direction and bound constraints,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abducted noise </a:t>
            </a:r>
            <a:r>
              <a:rPr sz="1000" b="0" i="1">
                <a:solidFill>
                  <a:srgbClr val="000000"/>
                </a:solidFill>
                <a:latin typeface="Arial"/>
              </a:rPr>
              <a:t>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06040" y="685800"/>
            <a:ext cx="2011680" cy="16002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000000"/>
                </a:solidFill>
                <a:latin typeface="Arial"/>
              </a:rPr>
              <a:t>Step 1</a:t>
            </a:r>
          </a:p>
          <a:p>
            <a:pPr algn="ctr">
              <a:spcBef>
                <a:spcPts val="400"/>
              </a:spcBef>
            </a:pPr>
            <a:r>
              <a:rPr sz="1100" b="1" i="0">
                <a:solidFill>
                  <a:srgbClr val="000000"/>
                </a:solidFill>
                <a:latin typeface="Arial"/>
              </a:rPr>
              <a:t>Prescriptive single-lever diagnosis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F1(</a:t>
            </a:r>
            <a:r>
              <a:rPr sz="1000" b="0" i="1">
                <a:solidFill>
                  <a:srgbClr val="000000"/>
                </a:solidFill>
                <a:latin typeface="Arial"/>
              </a:rPr>
              <a:t>i</a:t>
            </a:r>
            <a:r>
              <a:rPr sz="1000" b="0" i="0">
                <a:solidFill>
                  <a:srgbClr val="000000"/>
                </a:solidFill>
                <a:latin typeface="Arial"/>
              </a:rPr>
              <a:t>) = max</a:t>
            </a:r>
            <a:r>
              <a:rPr sz="1000" b="0" i="1" baseline="-25000">
                <a:solidFill>
                  <a:srgbClr val="000000"/>
                </a:solidFill>
                <a:latin typeface="Arial"/>
              </a:rPr>
              <a:t>v</a:t>
            </a:r>
            <a:r>
              <a:rPr sz="1000" b="0" i="0" baseline="-25000">
                <a:solidFill>
                  <a:srgbClr val="000000"/>
                </a:solidFill>
                <a:latin typeface="Arial"/>
              </a:rPr>
              <a:t>∈</a:t>
            </a:r>
            <a:r>
              <a:rPr sz="1000" b="0" i="1" baseline="-25000">
                <a:solidFill>
                  <a:srgbClr val="000000"/>
                </a:solidFill>
                <a:latin typeface="Arial"/>
              </a:rPr>
              <a:t>V</a:t>
            </a:r>
            <a:r>
              <a:rPr sz="1000" b="0" i="1" baseline="-25000">
                <a:solidFill>
                  <a:srgbClr val="000000"/>
                </a:solidFill>
                <a:latin typeface="Arial"/>
              </a:rPr>
              <a:t>i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</a:t>
            </a:r>
            <a:r>
              <a:rPr sz="1000" b="0" i="1">
                <a:solidFill>
                  <a:srgbClr val="000000"/>
                </a:solidFill>
                <a:latin typeface="Arial"/>
              </a:rPr>
              <a:t>g</a:t>
            </a:r>
            <a:r>
              <a:rPr sz="1000" b="0" i="1" baseline="-25000">
                <a:solidFill>
                  <a:srgbClr val="000000"/>
                </a:solidFill>
                <a:latin typeface="Arial"/>
              </a:rPr>
              <a:t>i</a:t>
            </a:r>
            <a:r>
              <a:rPr sz="1000" b="0" i="0">
                <a:solidFill>
                  <a:srgbClr val="000000"/>
                </a:solidFill>
                <a:latin typeface="Arial"/>
              </a:rPr>
              <a:t>(</a:t>
            </a:r>
            <a:r>
              <a:rPr sz="1000" b="0" i="1">
                <a:solidFill>
                  <a:srgbClr val="000000"/>
                </a:solidFill>
                <a:latin typeface="Arial"/>
              </a:rPr>
              <a:t>v</a:t>
            </a:r>
            <a:r>
              <a:rPr sz="1000" b="0" i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for every actionable feature </a:t>
            </a:r>
            <a:r>
              <a:rPr sz="1000" b="0" i="1">
                <a:solidFill>
                  <a:srgbClr val="000000"/>
                </a:solidFill>
                <a:latin typeface="Arial"/>
              </a:rPr>
              <a:t>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13432" y="1485900"/>
            <a:ext cx="265176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937760" y="685800"/>
            <a:ext cx="2011680" cy="16002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000000"/>
                </a:solidFill>
                <a:latin typeface="Arial"/>
              </a:rPr>
              <a:t>Step 2</a:t>
            </a:r>
          </a:p>
          <a:p>
            <a:pPr algn="ctr">
              <a:spcBef>
                <a:spcPts val="400"/>
              </a:spcBef>
            </a:pPr>
            <a:r>
              <a:rPr sz="1100" b="1" i="0">
                <a:solidFill>
                  <a:srgbClr val="000000"/>
                </a:solidFill>
                <a:latin typeface="Arial"/>
              </a:rPr>
              <a:t>Does a single action reach the boundary?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→ cheapest single action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+ menu of substitutable single actions (G4-type)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45152" y="1485900"/>
            <a:ext cx="265176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269480" y="685800"/>
            <a:ext cx="2011680" cy="16002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000000"/>
                </a:solidFill>
                <a:latin typeface="Arial"/>
              </a:rPr>
              <a:t>Step 3</a:t>
            </a:r>
          </a:p>
          <a:p>
            <a:pPr algn="ctr">
              <a:spcBef>
                <a:spcPts val="400"/>
              </a:spcBef>
            </a:pPr>
            <a:r>
              <a:rPr sz="1100" b="1" i="0">
                <a:solidFill>
                  <a:srgbClr val="000000"/>
                </a:solidFill>
                <a:latin typeface="Arial"/>
              </a:rPr>
              <a:t>Escalation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joint actions needed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(G3-type,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C</a:t>
            </a:r>
            <a:r>
              <a:rPr sz="1000" b="0" i="0" baseline="-25000">
                <a:solidFill>
                  <a:srgbClr val="000000"/>
                </a:solidFill>
                <a:latin typeface="Arial"/>
              </a:rPr>
              <a:t>G4</a:t>
            </a:r>
            <a:r>
              <a:rPr sz="1000" b="0" i="0" baseline="30000">
                <a:solidFill>
                  <a:srgbClr val="000000"/>
                </a:solidFill>
                <a:latin typeface="Arial"/>
              </a:rPr>
              <a:t>br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&gt; 0):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pairs, then triples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(F2 screening or top-</a:t>
            </a:r>
            <a:r>
              <a:rPr sz="1000" b="0" i="1">
                <a:solidFill>
                  <a:srgbClr val="000000"/>
                </a:solidFill>
                <a:latin typeface="Arial"/>
              </a:rPr>
              <a:t>M</a:t>
            </a:r>
            <a:r>
              <a:rPr sz="1000" b="0" i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76872" y="1485900"/>
            <a:ext cx="265176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03720" y="1101852"/>
            <a:ext cx="411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yes: stop (92% of solved queries)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28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latin typeface="Arial"/>
              </a:rPr>
              <a:t>Output: direct actions (</a:t>
            </a:r>
            <a:r>
              <a:rPr sz="1100" b="0" i="1">
                <a:latin typeface="Arial"/>
              </a:rPr>
              <a:t>L</a:t>
            </a:r>
            <a:r>
              <a:rPr sz="1100" b="0" i="1" baseline="-25000">
                <a:latin typeface="Arial"/>
              </a:rPr>
              <a:t>active</a:t>
            </a:r>
            <a:r>
              <a:rPr sz="1100" b="0" i="1">
                <a:latin typeface="Arial"/>
              </a:rPr>
              <a:t>) separated from SCM-propagated downstream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